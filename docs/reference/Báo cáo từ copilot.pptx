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Retention 30D (pp)</c:v>
                </c:pt>
              </c:strCache>
            </c:strRef>
          </c:tx>
          <c:spPr>
            <a:solidFill>
              <a:srgbClr val="C43E3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Payroll Mass</c:v>
                </c:pt>
                <c:pt idx="1">
                  <c:v>Payroll Affluent</c:v>
                </c:pt>
                <c:pt idx="2">
                  <c:v>Priority</c:v>
                </c:pt>
                <c:pt idx="3">
                  <c:v>Young Pros</c:v>
                </c:pt>
                <c:pt idx="4">
                  <c:v>Merchant Owners</c:v>
                </c:pt>
                <c:pt idx="5">
                  <c:v>Low Active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-6.7</c:v>
                </c:pt>
                <c:pt idx="1">
                  <c:v>-9.8000000000000007</c:v>
                </c:pt>
                <c:pt idx="2">
                  <c:v>-8.8000000000000007</c:v>
                </c:pt>
                <c:pt idx="3">
                  <c:v>-8.1999999999999993</c:v>
                </c:pt>
                <c:pt idx="4">
                  <c:v>-8.9</c:v>
                </c:pt>
                <c:pt idx="5">
                  <c:v>-10.8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DB-4F13-99FB-B3A40F98C1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2738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"/>
          <c:min val="-12"/>
        </c:scaling>
        <c:delete val="0"/>
        <c:axPos val="l"/>
        <c:majorGridlines>
          <c:spPr>
            <a:ln w="12700" cap="flat">
              <a:solidFill>
                <a:srgbClr val="E6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2738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Transfer-out %</c:v>
                </c:pt>
              </c:strCache>
            </c:strRef>
          </c:tx>
          <c:spPr>
            <a:solidFill>
              <a:srgbClr val="E2A12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Payroll Mass</c:v>
                </c:pt>
                <c:pt idx="1">
                  <c:v>Payroll Affluent</c:v>
                </c:pt>
                <c:pt idx="2">
                  <c:v>Priority</c:v>
                </c:pt>
                <c:pt idx="3">
                  <c:v>Young Pros</c:v>
                </c:pt>
                <c:pt idx="4">
                  <c:v>Merchant Owners</c:v>
                </c:pt>
                <c:pt idx="5">
                  <c:v>Low Active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59.2</c:v>
                </c:pt>
                <c:pt idx="1">
                  <c:v>51.8</c:v>
                </c:pt>
                <c:pt idx="2">
                  <c:v>43.8</c:v>
                </c:pt>
                <c:pt idx="3">
                  <c:v>66.400000000000006</c:v>
                </c:pt>
                <c:pt idx="4">
                  <c:v>70.2</c:v>
                </c:pt>
                <c:pt idx="5">
                  <c:v>77.900000000000006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B7-4F5B-815A-B83B05D1A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2738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E6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2738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82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5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685800"/>
            <a:ext cx="1508760" cy="0"/>
          </a:xfrm>
          <a:prstGeom prst="line">
            <a:avLst/>
          </a:prstGeom>
          <a:noFill/>
          <a:ln w="25400">
            <a:solidFill>
              <a:srgbClr val="00A7C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12680" y="1078992"/>
            <a:ext cx="1005840" cy="0"/>
          </a:xfrm>
          <a:prstGeom prst="line">
            <a:avLst/>
          </a:prstGeom>
          <a:noFill/>
          <a:ln w="25400">
            <a:solidFill>
              <a:srgbClr val="E2A12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7000" y="1472184"/>
            <a:ext cx="731520" cy="0"/>
          </a:xfrm>
          <a:prstGeom prst="line">
            <a:avLst/>
          </a:prstGeom>
          <a:noFill/>
          <a:ln w="25400">
            <a:solidFill>
              <a:srgbClr val="2E567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658368"/>
            <a:ext cx="3977640" cy="402336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749808"/>
            <a:ext cx="3758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BANKING · CUSTOMER BEHAVIOR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6720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Phát hiện bất thường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trong hành vi tài khoản chính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3232" y="299923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CEC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tích theo tháng và phân khúc khách hàng · Jan–Jun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42519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KHÚC P0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45079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3232" y="4965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Active, Merchant, Young Pros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42519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QUY MÔ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45079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120k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1880" y="4965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Mass đang xấu đi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TRANSFER-OUT JUN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5079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1C7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62.6%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4965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Bình quân gia quyền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594360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FD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ra: bảng bất thường, số liệu chứng minh, mức ưu tiên, giả thuyết, dữ liệu bổ sung và hành động đề xuất.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11712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8BB5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TÓM TẮT PHÁT HIỆN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 điều hành: rủi ro rời tiền lan rộng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30D BÌNH QUÂN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007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26.9%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Giảm -8.1pp từ Jan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TRANSFER-OUT BÌNH QUÂN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700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62.6%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21579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Tăng ở cả 6 phân khúc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08192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 SCORE BÌNH QUÂN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08192" y="17007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60.4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08192" y="21579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Tiệm cận vùng rủi ro cao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42832" y="1444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MÔ DANH MỤC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42832" y="17007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227.5k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42832" y="21579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khách hàng trong bảng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2907792"/>
            <a:ext cx="1088136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1821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 tín hiệu cần ưu tiên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" y="3639312"/>
            <a:ext cx="54864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Active Payroll và Merchant Owners đã vượt ngưỡng rủi ro cao.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" y="4176522"/>
            <a:ext cx="54864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Professionals: app-active cao nhưng retention thấp và transfer-out cao.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4713732"/>
            <a:ext cx="54864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Mass là rủi ro quy mô: 120k KH, transfer-out tăng +13.6pp.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5250942"/>
            <a:ext cx="54864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và Payroll Affluent suy yếu âm thầm: retention giảm, CASA giảm.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6539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Hàm ý quản trị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565392" y="3639312"/>
            <a:ext cx="4663440" cy="502920"/>
          </a:xfrm>
          <a:prstGeom prst="rect">
            <a:avLst/>
          </a:prstGeom>
          <a:solidFill>
            <a:srgbClr val="FDECEC"/>
          </a:solidFill>
          <a:ln w="12700">
            <a:solidFill>
              <a:srgbClr val="C43E3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48272" y="376732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Chặn rời tiền trước khi tối ưu bán chéo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65392" y="4352544"/>
            <a:ext cx="4663440" cy="502920"/>
          </a:xfrm>
          <a:prstGeom prst="rect">
            <a:avLst/>
          </a:prstGeom>
          <a:solidFill>
            <a:srgbClr val="FFF3D8"/>
          </a:solidFill>
          <a:ln w="12700">
            <a:solidFill>
              <a:srgbClr val="E2A1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48272" y="448056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366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tra đường tiền chuyển ra ngoài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65392" y="5065776"/>
            <a:ext cx="4663440" cy="502920"/>
          </a:xfrm>
          <a:prstGeom prst="rect">
            <a:avLst/>
          </a:prstGeom>
          <a:solidFill>
            <a:srgbClr val="E6F7FB"/>
          </a:solidFill>
          <a:ln w="12700">
            <a:solidFill>
              <a:srgbClr val="00A7C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48272" y="519379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cảnh báo tuần theo cohort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KHUNG PHÂN TÍCH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Ngưỡng cảnh báo tham khảo để sàng lọc bất thường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chưa cung cấp ngưỡng nghiệp vụ; các ngưỡng dưới đây là tham khảo và cần hiệu chỉnh theo mùa vụ, chiến dịch, employer/MCC và balance band.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3429000" cy="1517904"/>
          </a:xfrm>
          <a:prstGeom prst="rect">
            <a:avLst/>
          </a:prstGeom>
          <a:solidFill>
            <a:srgbClr val="FDECEC"/>
          </a:solidFill>
          <a:ln w="15240">
            <a:solidFill>
              <a:srgbClr val="C43E3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0756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Retention giảm mạnh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952" y="24414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≤ -3pp hoặc Jan→Jun ≤ -7pp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8952" y="28895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tiên nếu Ret30D &lt;30% hoặc nhóm &gt;50k KH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98264" y="1920240"/>
            <a:ext cx="3429000" cy="1517904"/>
          </a:xfrm>
          <a:prstGeom prst="rect">
            <a:avLst/>
          </a:prstGeom>
          <a:solidFill>
            <a:srgbClr val="FDECEC"/>
          </a:solidFill>
          <a:ln w="15240">
            <a:solidFill>
              <a:srgbClr val="C43E3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62856" y="20756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Transfer-out cao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2856" y="24414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Mức ≥60% hoặc tăng ≥+3pp MoM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62856" y="28895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≥70% = rủi ro rất cao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02168" y="1920240"/>
            <a:ext cx="3429000" cy="1517904"/>
          </a:xfrm>
          <a:prstGeom prst="rect">
            <a:avLst/>
          </a:prstGeom>
          <a:solidFill>
            <a:srgbClr val="FFF3D8"/>
          </a:solidFill>
          <a:ln w="15240">
            <a:solidFill>
              <a:srgbClr val="E2A1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0756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Churn Risk Score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24414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≥65 hoặc tăng ≥+8 điểm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8895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≥70 = P0 khi kèm transfer-out cao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794760"/>
            <a:ext cx="3429000" cy="1517904"/>
          </a:xfrm>
          <a:prstGeom prst="rect">
            <a:avLst/>
          </a:prstGeom>
          <a:solidFill>
            <a:srgbClr val="E6F7FB"/>
          </a:solidFill>
          <a:ln w="15240">
            <a:solidFill>
              <a:srgbClr val="00A7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" y="39502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CASA giảm bất thường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8952" y="43159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 giảm ≥4% khi inflow không giảm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952" y="47640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Dấu hiệu tiền vào không ở lại tài khoản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98264" y="3794760"/>
            <a:ext cx="3429000" cy="1517904"/>
          </a:xfrm>
          <a:prstGeom prst="rect">
            <a:avLst/>
          </a:prstGeom>
          <a:solidFill>
            <a:srgbClr val="EEF6FA"/>
          </a:solidFill>
          <a:ln w="15240">
            <a:solidFill>
              <a:srgbClr val="123A5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62856" y="39502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Mâu thuẫn số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62856" y="43159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App-active ≥60% nhưng Ret30D &lt;30%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2856" y="47640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có thể là kênh chuyển tiền ra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02168" y="3794760"/>
            <a:ext cx="3429000" cy="1517904"/>
          </a:xfrm>
          <a:prstGeom prst="rect">
            <a:avLst/>
          </a:prstGeom>
          <a:solidFill>
            <a:srgbClr val="FFF0E8"/>
          </a:solidFill>
          <a:ln w="15240">
            <a:solidFill>
              <a:srgbClr val="F06E3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66760" y="39502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6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Saving tăng, CASA giảm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66760" y="43159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Saving/AutoSave +≥2pp và CASA giảm ≥3%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47640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 thể cannibalize CASA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" y="5870448"/>
            <a:ext cx="1645920" cy="402336"/>
          </a:xfrm>
          <a:prstGeom prst="rect">
            <a:avLst/>
          </a:prstGeom>
          <a:solidFill>
            <a:srgbClr val="C43E3E"/>
          </a:solidFill>
          <a:ln w="12700">
            <a:solidFill>
              <a:srgbClr val="C4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4088" y="59618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P0: xử lý ngay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468880" y="5870448"/>
            <a:ext cx="2057400" cy="402336"/>
          </a:xfrm>
          <a:prstGeom prst="rect">
            <a:avLst/>
          </a:prstGeom>
          <a:solidFill>
            <a:srgbClr val="E2A12E"/>
          </a:solidFill>
          <a:ln w="12700">
            <a:solidFill>
              <a:srgbClr val="E2A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78608" y="5961888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P1: điều tra nhanh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00600" y="5952744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P0/P1 được gán theo mức vượt ngưỡng, tốc độ xấu đi và quy mô tác động.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BẤT THƯỜNG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Bảng bất thường P0: cần xử lý ngay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2128266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453896"/>
            <a:ext cx="19819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khúc / ƯT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1186" y="1353312"/>
            <a:ext cx="3136392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04338" y="1453896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liệu chứng minh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7578" y="1353312"/>
            <a:ext cx="3472434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40730" y="1453896"/>
            <a:ext cx="3326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 thuyết &amp; dữ liệu bổ sung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40012" y="1353312"/>
            <a:ext cx="2464308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13164" y="1453896"/>
            <a:ext cx="23180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động đề xuất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523744"/>
            <a:ext cx="2128266" cy="1170432"/>
          </a:xfrm>
          <a:prstGeom prst="rect">
            <a:avLst/>
          </a:prstGeom>
          <a:solidFill>
            <a:srgbClr val="FDECE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2606040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Active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C4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· P0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1186" y="2523744"/>
            <a:ext cx="3136392" cy="1170432"/>
          </a:xfrm>
          <a:prstGeom prst="rect">
            <a:avLst/>
          </a:prstGeom>
          <a:solidFill>
            <a:srgbClr val="FDECE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04338" y="2606040"/>
            <a:ext cx="2990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38k KH; Ret30D 12.2%; Transfer 77.9%; Churn 75.5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7578" y="2523744"/>
            <a:ext cx="3472434" cy="1170432"/>
          </a:xfrm>
          <a:prstGeom prst="rect">
            <a:avLst/>
          </a:prstGeom>
          <a:solidFill>
            <a:srgbClr val="FDECE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40730" y="2606040"/>
            <a:ext cx="332613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Dormant/churn thật. Kiểm tra employer status, last payroll, ngân hàng nhận tiền.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40012" y="2523744"/>
            <a:ext cx="2464308" cy="1170432"/>
          </a:xfrm>
          <a:prstGeom prst="rect">
            <a:avLst/>
          </a:prstGeom>
          <a:solidFill>
            <a:srgbClr val="FDECE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13164" y="2606040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Win-back chọn lọc; cảnh báo sau inflow; loại khỏi cross-sell đại trà.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694176"/>
            <a:ext cx="2128266" cy="1170432"/>
          </a:xfrm>
          <a:prstGeom prst="rect">
            <a:avLst/>
          </a:prstGeom>
          <a:solidFill>
            <a:srgbClr val="FFF0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" y="3776472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6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06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 · P0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31186" y="3694176"/>
            <a:ext cx="3136392" cy="1170432"/>
          </a:xfrm>
          <a:prstGeom prst="rect">
            <a:avLst/>
          </a:prstGeom>
          <a:solidFill>
            <a:srgbClr val="FFF0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04338" y="3776472"/>
            <a:ext cx="2990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15k KH; Transfer 70.2%; Churn 67.0; CASA -5.8%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7578" y="3694176"/>
            <a:ext cx="3472434" cy="1170432"/>
          </a:xfrm>
          <a:prstGeom prst="rect">
            <a:avLst/>
          </a:prstGeom>
          <a:solidFill>
            <a:srgbClr val="FFF0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40730" y="3776472"/>
            <a:ext cx="332613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Tiền kinh doanh rời ngân hàng. Kiểm tra MCC, settlement delay, phí, đối thủ.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40012" y="3694176"/>
            <a:ext cx="2464308" cy="1170432"/>
          </a:xfrm>
          <a:prstGeom prst="rect">
            <a:avLst/>
          </a:prstGeom>
          <a:solidFill>
            <a:srgbClr val="FFF0E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13164" y="3776472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Gói merchant retention; ưu đãi phí có mục tiêu; cash-management offer.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4864608"/>
            <a:ext cx="2128266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" y="4946904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A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E2A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Professionals · P0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631186" y="4864608"/>
            <a:ext cx="3136392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04338" y="4946904"/>
            <a:ext cx="2990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54k KH; App 65.9%; Ret30D 23.3%; Transfer 66.4%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67578" y="4864608"/>
            <a:ext cx="3472434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40730" y="4946904"/>
            <a:ext cx="332613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dùng để chuyển tiền ra; saving hút CASA. Kiểm tra app journey và flow CASA→saving.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240012" y="4864608"/>
            <a:ext cx="2464308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313164" y="4946904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thiệp in-app; CASA floor + saving ladder; ưu đãi bill/QR giữ tiền.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6181344"/>
            <a:ext cx="9784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tiên P0 vì vượt ngưỡng cao hoặc có mẫu mâu thuẫn nghiêm trọng trong tháng Jun.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BẤT THƯỜNG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Watchlist P1: xu hướng xấu đi cần điều tra nhanh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2128266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453896"/>
            <a:ext cx="19819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khúc / ƯT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1186" y="1353312"/>
            <a:ext cx="3136392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04338" y="1453896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Số liệu chứng minh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7578" y="1353312"/>
            <a:ext cx="3472434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40730" y="1453896"/>
            <a:ext cx="3326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 thuyết &amp; dữ liệu bổ sung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40012" y="1353312"/>
            <a:ext cx="2464308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13164" y="1453896"/>
            <a:ext cx="23180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động đề xuất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523744"/>
            <a:ext cx="2128266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2606040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A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E2A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· P1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1186" y="2523744"/>
            <a:ext cx="3136392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04338" y="2606040"/>
            <a:ext cx="2990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120k KH; Ret7D -8.6pp; Transfer +13.6pp; Churn +9.0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7578" y="2523744"/>
            <a:ext cx="3472434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40730" y="2606040"/>
            <a:ext cx="332613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quy mô: lương vào nhưng tiền rời nhanh. Cần D+1/D+7 balance sau payroll.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40012" y="2523744"/>
            <a:ext cx="2464308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13164" y="2606040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giữ tiền sau lương; bill/QR bundles; theo dõi cohort employer.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694176"/>
            <a:ext cx="2128266" cy="1170432"/>
          </a:xfrm>
          <a:prstGeom prst="rect">
            <a:avLst/>
          </a:prstGeom>
          <a:solidFill>
            <a:srgbClr val="E6F7F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" y="3776472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P1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31186" y="3694176"/>
            <a:ext cx="3136392" cy="1170432"/>
          </a:xfrm>
          <a:prstGeom prst="rect">
            <a:avLst/>
          </a:prstGeom>
          <a:solidFill>
            <a:srgbClr val="E6F7F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04338" y="3776472"/>
            <a:ext cx="2990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8.5k KH; Ret7D -9.2pp; Transfer +14.2pp; CASA -4.0%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7578" y="3694176"/>
            <a:ext cx="3472434" cy="1170432"/>
          </a:xfrm>
          <a:prstGeom prst="rect">
            <a:avLst/>
          </a:prstGeom>
          <a:solidFill>
            <a:srgbClr val="E6F7F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40730" y="3776472"/>
            <a:ext cx="332613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rò rỉ CASA. Kiểm tra RM notes, rate sensitivity, outbound bank.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40012" y="3694176"/>
            <a:ext cx="2464308" cy="1170432"/>
          </a:xfrm>
          <a:prstGeom prst="rect">
            <a:avLst/>
          </a:prstGeom>
          <a:solidFill>
            <a:srgbClr val="E6F7F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13164" y="3776472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outreach; balance-protection offer; tối ưu saving ladder.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4864608"/>
            <a:ext cx="2128266" cy="1170432"/>
          </a:xfrm>
          <a:prstGeom prst="rect">
            <a:avLst/>
          </a:prstGeom>
          <a:solidFill>
            <a:srgbClr val="F1F5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" y="4946904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2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Affluent · P1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631186" y="4864608"/>
            <a:ext cx="3136392" cy="1170432"/>
          </a:xfrm>
          <a:prstGeom prst="rect">
            <a:avLst/>
          </a:prstGeom>
          <a:solidFill>
            <a:srgbClr val="F1F5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04338" y="4946904"/>
            <a:ext cx="2990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32k KH; Ret30D -9.8pp; Transfer +10.6pp; CASA -4.8%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67578" y="4864608"/>
            <a:ext cx="3472434" cy="1170432"/>
          </a:xfrm>
          <a:prstGeom prst="rect">
            <a:avLst/>
          </a:prstGeom>
          <a:solidFill>
            <a:srgbClr val="F1F5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40730" y="4946904"/>
            <a:ext cx="332613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tăng nhưng gắn kết giảm. Kiểm tra employer cohort và dòng tiền đối thủ.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240012" y="4864608"/>
            <a:ext cx="2464308" cy="1170432"/>
          </a:xfrm>
          <a:prstGeom prst="rect">
            <a:avLst/>
          </a:prstGeom>
          <a:solidFill>
            <a:srgbClr val="F1F5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313164" y="4946904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test giữ primary account; ưu đãi theo dòng lương và CASA floor.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6181344"/>
            <a:ext cx="10332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chưa luôn vượt ngưỡng đỏ tuyệt đối, nhưng tốc độ xấu đi hoặc quy mô tác động khiến cần điều tra trong 2–4 tuần.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SCAN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Tín hiệu danh mục: retention giảm, transfer-out tăng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Biến động Retention 30D Jan→Jun</a:t>
            </a:r>
            <a:endParaRPr lang="en-US" sz="1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94360" y="1691640"/>
          <a:ext cx="534924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49808" y="58338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30D giảm ở tất cả phân khúc; Payroll Affluent và Low Active rơi mạnh nhất.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6520" y="1298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Transfer-out Jun 2026</a:t>
            </a:r>
            <a:endParaRPr lang="en-US" sz="18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355080" y="1691640"/>
          <a:ext cx="52578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6510528" y="58338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Transfer-out vượt 60% ở Low Active, Merchant Owners và Young Professionals.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TÍCH CHI TIẾT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P0 deep dive: ba mẫu rủi ro khác nhau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353312"/>
            <a:ext cx="3493008" cy="4800600"/>
          </a:xfrm>
          <a:prstGeom prst="rect">
            <a:avLst/>
          </a:prstGeom>
          <a:solidFill>
            <a:srgbClr val="FDECEC"/>
          </a:solidFill>
          <a:ln w="15240">
            <a:solidFill>
              <a:srgbClr val="C43E3E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353312"/>
            <a:ext cx="3493008" cy="502920"/>
          </a:xfrm>
          <a:prstGeom prst="rect">
            <a:avLst/>
          </a:prstGeom>
          <a:solidFill>
            <a:srgbClr val="C43E3E"/>
          </a:solidFill>
          <a:ln w="12700">
            <a:solidFill>
              <a:srgbClr val="C43E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1481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Active Payroll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148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Ret30D 12.2%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5528" y="2633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 77.9%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95528" y="31181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Churn 75.5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95528" y="3794760"/>
            <a:ext cx="306324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Nền thấp tiếp tục rơi: Ret30D -10.8pp.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" y="4389120"/>
            <a:ext cx="306324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tiên xác thực dormant và khả năng mất lương.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" y="5394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động: can thiệp theo nguyên nhân, không dùng một offer chung.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1353312"/>
            <a:ext cx="3493008" cy="4800600"/>
          </a:xfrm>
          <a:prstGeom prst="rect">
            <a:avLst/>
          </a:prstGeom>
          <a:solidFill>
            <a:srgbClr val="FFF0E8"/>
          </a:solidFill>
          <a:ln w="15240">
            <a:solidFill>
              <a:srgbClr val="F06E3A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0" y="1353312"/>
            <a:ext cx="3493008" cy="502920"/>
          </a:xfrm>
          <a:prstGeom prst="rect">
            <a:avLst/>
          </a:prstGeom>
          <a:solidFill>
            <a:srgbClr val="F06E3A"/>
          </a:solidFill>
          <a:ln w="12700">
            <a:solidFill>
              <a:srgbClr val="F06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53712" y="1481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Owners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0288" y="2148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6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 70.2%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590288" y="2633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6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CASA -5.8%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90288" y="31181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6E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Churn 67.0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590288" y="3794760"/>
            <a:ext cx="306324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Dòng tiền vào ổn định nhưng CASA giảm.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90288" y="4389120"/>
            <a:ext cx="306324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settlement, phí và đối thủ nhận tiền.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90288" y="5394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động: can thiệp theo nguyên nhân, không dùng một offer chung.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83880" y="1353312"/>
            <a:ext cx="3493008" cy="4800600"/>
          </a:xfrm>
          <a:prstGeom prst="rect">
            <a:avLst/>
          </a:prstGeom>
          <a:solidFill>
            <a:srgbClr val="FFF3D8"/>
          </a:solidFill>
          <a:ln w="15240">
            <a:solidFill>
              <a:srgbClr val="E2A12E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83880" y="1353312"/>
            <a:ext cx="3493008" cy="502920"/>
          </a:xfrm>
          <a:prstGeom prst="rect">
            <a:avLst/>
          </a:prstGeom>
          <a:solidFill>
            <a:srgbClr val="E2A12E"/>
          </a:solidFill>
          <a:ln w="12700">
            <a:solidFill>
              <a:srgbClr val="E2A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48472" y="1481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Professionals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85048" y="21488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65.9%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385048" y="2633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Ret30D 23.3%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385048" y="31181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 66.4%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385048" y="3794760"/>
            <a:ext cx="306324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App-active cao nhưng retention thấp.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85048" y="4389120"/>
            <a:ext cx="306324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 tăng +3.2pp trong khi CASA giảm.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85048" y="5394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động: can thiệp theo nguyên nhân, không dùng một offer chung.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TÍCH CHI TIẾT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 diagnostic: xử lý trước khi vượt ngưỡng đỏ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2128266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453896"/>
            <a:ext cx="19819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khúc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1186" y="1353312"/>
            <a:ext cx="2912364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04338" y="1453896"/>
            <a:ext cx="27660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 hiệu chính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43550" y="1353312"/>
            <a:ext cx="3696462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16702" y="1453896"/>
            <a:ext cx="3550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bổ sung cần lấy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40012" y="1353312"/>
            <a:ext cx="2464308" cy="1170432"/>
          </a:xfrm>
          <a:prstGeom prst="rect">
            <a:avLst/>
          </a:prstGeom>
          <a:solidFill>
            <a:srgbClr val="123A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13164" y="1453896"/>
            <a:ext cx="23180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Hành động kiểm chứng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523744"/>
            <a:ext cx="2128266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2606040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A1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Mass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1186" y="2523744"/>
            <a:ext cx="2912364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04338" y="2606040"/>
            <a:ext cx="27660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120k KH; Ret30D 29.9%; Transfer 59.2%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43550" y="2523744"/>
            <a:ext cx="3696462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16702" y="2606040"/>
            <a:ext cx="35501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D+1/D+7 balance sau lương; employer cohort; điểm nhận tiền đối thủ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40012" y="2523744"/>
            <a:ext cx="2464308" cy="1170432"/>
          </a:xfrm>
          <a:prstGeom prst="rect">
            <a:avLst/>
          </a:prstGeom>
          <a:solidFill>
            <a:srgbClr val="FFF3D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13164" y="2606040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giữ tiền sau payroll; ưu đãi bill/QR theo hành vi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694176"/>
            <a:ext cx="2128266" cy="1170432"/>
          </a:xfrm>
          <a:prstGeom prst="rect">
            <a:avLst/>
          </a:prstGeom>
          <a:solidFill>
            <a:srgbClr val="E6F7F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" y="3776472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31186" y="3694176"/>
            <a:ext cx="2912364" cy="1170432"/>
          </a:xfrm>
          <a:prstGeom prst="rect">
            <a:avLst/>
          </a:prstGeom>
          <a:solidFill>
            <a:srgbClr val="E6F7F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04338" y="3776472"/>
            <a:ext cx="27660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Ret7D -9.2pp; Transfer +14.2pp; CASA -4.0%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43550" y="3694176"/>
            <a:ext cx="3696462" cy="1170432"/>
          </a:xfrm>
          <a:prstGeom prst="rect">
            <a:avLst/>
          </a:prstGeom>
          <a:solidFill>
            <a:srgbClr val="E6F7F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16702" y="3776472"/>
            <a:ext cx="35501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notes; giao dịch sang ngân hàng đối thủ; sensitivity với lãi suất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40012" y="3694176"/>
            <a:ext cx="2464308" cy="1170432"/>
          </a:xfrm>
          <a:prstGeom prst="rect">
            <a:avLst/>
          </a:prstGeom>
          <a:solidFill>
            <a:srgbClr val="E6F7F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13164" y="3776472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outreach; balance protection; offer theo tổng quan hệ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4864608"/>
            <a:ext cx="2128266" cy="1170432"/>
          </a:xfrm>
          <a:prstGeom prst="rect">
            <a:avLst/>
          </a:prstGeom>
          <a:solidFill>
            <a:srgbClr val="F1F5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" y="4946904"/>
            <a:ext cx="198196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Affluent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631186" y="4864608"/>
            <a:ext cx="2912364" cy="1170432"/>
          </a:xfrm>
          <a:prstGeom prst="rect">
            <a:avLst/>
          </a:prstGeom>
          <a:solidFill>
            <a:srgbClr val="F1F5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04338" y="4946904"/>
            <a:ext cx="27660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Ret30D -9.8pp; Transfer +10.6pp; App 62.9%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543550" y="4864608"/>
            <a:ext cx="3696462" cy="1170432"/>
          </a:xfrm>
          <a:prstGeom prst="rect">
            <a:avLst/>
          </a:prstGeom>
          <a:solidFill>
            <a:srgbClr val="F1F5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16702" y="4946904"/>
            <a:ext cx="355015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journey; dòng tiền ra; employer và product usage cohort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240012" y="4864608"/>
            <a:ext cx="2464308" cy="1170432"/>
          </a:xfrm>
          <a:prstGeom prst="rect">
            <a:avLst/>
          </a:prstGeom>
          <a:solidFill>
            <a:srgbClr val="F1F5F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313164" y="4946904"/>
            <a:ext cx="23180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test giữ primary account; CASA floor + saving bundle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6181344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 P1: xác nhận nguyên nhân và thử nghiệm can thiệp trước khi transfer-out vượt 60% hoặc churn score vượt 65.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MÂU THUẪN HÀNH VI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Tín hiệu mâu thuẫn: hoạt động số không đồng nghĩa với giữ chân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10744200" cy="1078992"/>
          </a:xfrm>
          <a:prstGeom prst="rect">
            <a:avLst/>
          </a:prstGeom>
          <a:solidFill>
            <a:srgbClr val="FDECEC"/>
          </a:solidFill>
          <a:ln w="15240">
            <a:solidFill>
              <a:srgbClr val="C43E3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6276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App-active cao nhưng retention thấp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77640" y="16276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Professionals: App 65.9%, Ret30D 23.3%, Transfer 66.4%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2763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funnel login → transfer-out và lỗi hành trình giữ tiền.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10744200" cy="1078992"/>
          </a:xfrm>
          <a:prstGeom prst="rect">
            <a:avLst/>
          </a:prstGeom>
          <a:solidFill>
            <a:srgbClr val="FFF3D8"/>
          </a:solidFill>
          <a:ln w="15240">
            <a:solidFill>
              <a:srgbClr val="E2A1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" y="31363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Saving/AutoSave tăng nhưng CASA giảm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31363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Priority: Saving +3.8pp, CASA -4.0%; Young: Saving +3.2pp, CASA -4.2%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313639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cannibalization CASA→saving và balance band trước/sau mở tiết kiệm.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480560"/>
            <a:ext cx="10744200" cy="1078992"/>
          </a:xfrm>
          <a:prstGeom prst="rect">
            <a:avLst/>
          </a:prstGeom>
          <a:solidFill>
            <a:srgbClr val="E6F7FB"/>
          </a:solidFill>
          <a:ln w="15240">
            <a:solidFill>
              <a:srgbClr val="00A7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46451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Dòng tiền vào ổn định nhưng CASA giảm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46451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Owners: inflow 42 triệu VND giữ nguyên, CASA giảm -5.8%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18120" y="46451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tra transfer destination, settlement, phí và chào mời của đối thủ.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6089904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2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 mâu thuẫn này giúp phân biệt “người dùng app nhiều” với “khách hàng dùng tài khoản làm primary banking”.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ROOT-CAUSE WORKPLAN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Dữ liệu bổ sung để xác nhận nguyên nhân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5166360" cy="1572768"/>
          </a:xfrm>
          <a:prstGeom prst="rect">
            <a:avLst/>
          </a:prstGeom>
          <a:solidFill>
            <a:srgbClr val="FDECEC"/>
          </a:solidFill>
          <a:ln w="15240">
            <a:solidFill>
              <a:srgbClr val="C43E3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5256" y="17099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tiền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05256" y="21671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Ngân hàng nhận tiền, top destination, tỷ lệ rút/chuyển trong D+1/D+7 sau inflow.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657600"/>
            <a:ext cx="5166360" cy="1572768"/>
          </a:xfrm>
          <a:prstGeom prst="rect">
            <a:avLst/>
          </a:prstGeom>
          <a:solidFill>
            <a:srgbClr val="E6F7FB"/>
          </a:solidFill>
          <a:ln w="15240">
            <a:solidFill>
              <a:srgbClr val="00A7C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5256" y="38587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A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Cohort ngữ cảnh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05256" y="43159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Employer, MCC merchant, balance band, region, tenure, campaign exposure.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166360" cy="1572768"/>
          </a:xfrm>
          <a:prstGeom prst="rect">
            <a:avLst/>
          </a:prstGeom>
          <a:solidFill>
            <a:srgbClr val="FFF3D8"/>
          </a:solidFill>
          <a:ln w="15240">
            <a:solidFill>
              <a:srgbClr val="E2A12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83096" y="17099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 chuyển sản phẩm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83096" y="216712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CASA→saving, AutoSave, kỳ hạn, lãi suất, số dư trước/sau mở saving.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166360" cy="1572768"/>
          </a:xfrm>
          <a:prstGeom prst="rect">
            <a:avLst/>
          </a:prstGeom>
          <a:solidFill>
            <a:srgbClr val="EEF6FA"/>
          </a:solidFill>
          <a:ln w="15240">
            <a:solidFill>
              <a:srgbClr val="123A5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83096" y="38587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Trải nghiệm số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83096" y="43159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session mục đích, lỗi giao dịch, funnel login→transfer, contactability.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715000"/>
            <a:ext cx="10744200" cy="438912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843016"/>
            <a:ext cx="10241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 khi bổ sung dữ liệu, hiệu chỉnh ngưỡng theo mùa vụ và đo lift theo từng can thiệp.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 HOẠCH HÀNH ĐỘNG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Hành động đề xuất: chặn rời tiền, sau đó phục hồi CASA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" y="1737360"/>
            <a:ext cx="3154680" cy="0"/>
          </a:xfrm>
          <a:prstGeom prst="line">
            <a:avLst/>
          </a:prstGeom>
          <a:noFill/>
          <a:ln w="38100">
            <a:solidFill>
              <a:srgbClr val="C4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325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43E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0–7 ngày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4088" y="201168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watchlist P0 theo khách hàng và giao dịch.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291084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Cảnh báo sau inflow: chuyển ra &gt;50% trong 3 ngày.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381000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Liên hệ chọn lọc Low Active và Merchant có giá trị cao.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98848" y="1737360"/>
            <a:ext cx="3154680" cy="0"/>
          </a:xfrm>
          <a:prstGeom prst="line">
            <a:avLst/>
          </a:prstGeom>
          <a:noFill/>
          <a:ln w="38100">
            <a:solidFill>
              <a:srgbClr val="E2A1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53128" y="1325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2A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2–4 tuần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98848" y="201168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test ưu đãi giữ tiền: bill/QR, miễn phí theo CASA floor.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98848" y="291084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thiệp in-app cho nhóm app-active cao.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8848" y="381000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nguyên nhân theo employer, MCC, balance band.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93608" y="1737360"/>
            <a:ext cx="3154680" cy="0"/>
          </a:xfrm>
          <a:prstGeom prst="line">
            <a:avLst/>
          </a:prstGeom>
          <a:noFill/>
          <a:ln w="38100">
            <a:solidFill>
              <a:srgbClr val="00A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47888" y="1325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A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30–60 ngày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93608" y="201168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anomaly hàng tuần với ngưỡng động.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93608" y="291084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Playbook riêng cho P0/P1: retention, primary account, CASA defense.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93608" y="3810000"/>
            <a:ext cx="3246120" cy="86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Đo lift: Ret30D, transfer-out, CASA, churn score và NPV.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5559552"/>
            <a:ext cx="10835640" cy="594360"/>
          </a:xfrm>
          <a:prstGeom prst="rect">
            <a:avLst/>
          </a:prstGeom>
          <a:solidFill>
            <a:srgbClr val="123A5A"/>
          </a:solidFill>
          <a:ln w="12700">
            <a:solidFill>
              <a:srgbClr val="123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733288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Nguyên tắc ưu tiên: P0 xử lý theo tài khoản / giao dịch; P1 xử lý theo cohort và thử nghiệm nhanh.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C8"/>
          </a:solidFill>
          <a:ln w="12700">
            <a:solidFill>
              <a:srgbClr val="00A7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93424" y="6455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F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“Dữ liệu hành vi khách hàng.xlsx”, Jan–Jun 2026. Ngưỡng cảnh báo là tham khảo.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DÕI &amp; QUẢN TRỊ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lập cảnh báo vận hành sau phân tích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Bộ cảnh báo đề xuất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5074920" cy="5806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Cảnh báo tuần theo Segment × Month: Retention, Transfer-out, Churn, CASA.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519172"/>
            <a:ext cx="5074920" cy="5806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Cảnh báo giao dịch sau inflow: rời tiền nhanh trong D+1/D+7.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36392"/>
            <a:ext cx="5074920" cy="5806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Cảnh báo mâu thuẫn số: app-active cao nhưng retention thấp hoặc transfer-out cao.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753612"/>
            <a:ext cx="5074920" cy="5806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/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Cảnh báo cannibalization: saving/autosave tăng trong khi CASA giảm.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theo dõi sau can thiệp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473952" y="1901952"/>
            <a:ext cx="4526280" cy="420624"/>
          </a:xfrm>
          <a:prstGeom prst="rect">
            <a:avLst/>
          </a:prstGeom>
          <a:solidFill>
            <a:srgbClr val="EEF6FA"/>
          </a:solidFill>
          <a:ln w="1016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56832" y="201168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30D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89720" y="2011680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4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tăng ≥2pp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73952" y="2523744"/>
            <a:ext cx="45262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56832" y="2633472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Transfer-out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2633472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4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giảm ≥3pp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73952" y="3145536"/>
            <a:ext cx="4526280" cy="420624"/>
          </a:xfrm>
          <a:prstGeom prst="rect">
            <a:avLst/>
          </a:prstGeom>
          <a:solidFill>
            <a:srgbClr val="EEF6FA"/>
          </a:solidFill>
          <a:ln w="1016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56832" y="3255264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3255264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ổn định / tăng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73952" y="3767328"/>
            <a:ext cx="452628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56832" y="3877056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 score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9720" y="3877056"/>
            <a:ext cx="1417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giảm ≥5 điểm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5230368"/>
            <a:ext cx="10561320" cy="0"/>
          </a:xfrm>
          <a:prstGeom prst="line">
            <a:avLst/>
          </a:prstGeom>
          <a:noFill/>
          <a:ln w="12700">
            <a:solidFill>
              <a:srgbClr val="E6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5532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331720" y="5504688"/>
            <a:ext cx="8915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cho thấy rủi ro không chỉ nằm ở khách hàng ít hoạt động: các nhóm trẻ, merchant và payroll lớn đều có dấu hiệu rời tiền cần xử lý theo nguyên nhân.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2102</Words>
  <Application>Microsoft Office PowerPoint</Application>
  <PresentationFormat>Widescreen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 Office 1</dc:creator>
  <cp:lastModifiedBy>Test Office 1</cp:lastModifiedBy>
  <cp:revision>1</cp:revision>
  <dcterms:created xsi:type="dcterms:W3CDTF">2026-06-19T09:35:58Z</dcterms:created>
  <dcterms:modified xsi:type="dcterms:W3CDTF">2026-06-19T09:58:55Z</dcterms:modified>
</cp:coreProperties>
</file>